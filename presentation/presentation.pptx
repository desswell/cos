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files per class</c:v>
                </c:pt>
              </c:strCache>
            </c:strRef>
          </c:tx>
          <c:spPr>
            <a:solidFill>
              <a:srgbClr val="5B8FB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air_cond</c:v>
                  </c:pt>
                  <c:pt idx="1">
                    <c:v>car_horn</c:v>
                  </c:pt>
                  <c:pt idx="2">
                    <c:v>children</c:v>
                  </c:pt>
                  <c:pt idx="3">
                    <c:v>dog_bark</c:v>
                  </c:pt>
                  <c:pt idx="4">
                    <c:v>drilling</c:v>
                  </c:pt>
                  <c:pt idx="5">
                    <c:v>engine</c:v>
                  </c:pt>
                  <c:pt idx="6">
                    <c:v>gun_shot</c:v>
                  </c:pt>
                  <c:pt idx="7">
                    <c:v>jackham</c:v>
                  </c:pt>
                  <c:pt idx="8">
                    <c:v>siren</c:v>
                  </c:pt>
                  <c:pt idx="9">
                    <c:v>street_m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1000</c:v>
                </c:pt>
                <c:pt idx="1">
                  <c:v>429</c:v>
                </c:pt>
                <c:pt idx="2">
                  <c:v>1000</c:v>
                </c:pt>
                <c:pt idx="3">
                  <c:v>1000</c:v>
                </c:pt>
                <c:pt idx="4">
                  <c:v>1000</c:v>
                </c:pt>
                <c:pt idx="5">
                  <c:v>1000</c:v>
                </c:pt>
                <c:pt idx="6">
                  <c:v>374</c:v>
                </c:pt>
                <c:pt idx="7">
                  <c:v>1000</c:v>
                </c:pt>
                <c:pt idx="8">
                  <c:v>929</c:v>
                </c:pt>
                <c:pt idx="9">
                  <c:v>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A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7A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0"/>
            <a:ext cx="1828800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164592" cy="6858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5B8F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Курсовой проект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Классификация городских звуков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2A2D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датасете UrbanSound8K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Сравнение собственной 2D-CNN и дотюненной </a:t>
            </a:r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 CNN10</a:t>
            </a:r>
            <a:pPr indent="0" marL="0">
              <a:buNone/>
            </a:pPr>
            <a:r>
              <a:rPr lang="en-US" sz="16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(pretrained на AudioSet)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754880"/>
            <a:ext cx="36576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93776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2D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Ким А.М.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53492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ИУ12-41М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6692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Дисциплина: «Методы ИИ в ЦОС»  ·  МГТУ им. Н.Э. Баумана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Введение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Классификация звуков окружающей среды (Environmental Sound Classification)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короткой звуковой записи (≤ 4 c) определить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 источника звука.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Поддомен —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Sound Classification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(ESC), смежные задачи: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Урбан-акустика — мониторинг шума, выявление аномалий (выстрелы, сирены).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Биоакустика — определение видов животных по звукам.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Голосовые ассистенты — wake-word / звуковые события.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91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Подходы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846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Классические: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MFCC + SVM/Random Forest, GMM-HMM. Baseline в литературе ~0.65 на UrbanSound8K.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Глубокие сети на спектрограммах: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2D-CNN на лог-мел, PiczakCNN, SB-CNN, AST. Современный стандарт.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на AudioSet: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PANNs CNN10/CNN14 (Kong et al., 2020). 2 млн аудио, 527 классов.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1D-CNN на raw waveform: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M5, SampleCNN — end-to-end, но дороже в обучении.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Датасет UrbanSound8K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Salamon, Jacoby, Bello (2014) · CC BY-NC 3.0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2940" y="16002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CEEE3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2940" y="16916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8 732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62940" y="25146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аудио-сегмента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06140" y="16002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CEEE3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6140" y="16916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406140" y="25146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классов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49340" y="16002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CEEE3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49340" y="16916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10-fold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149340" y="25146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CV splits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92540" y="160020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CEEE3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92540" y="169164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4 c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892540" y="25146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 сегмента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7680960" cy="2880360"/>
          </a:xfrm>
          <a:prstGeom prst="roundRect">
            <a:avLst>
              <a:gd name="adj" fmla="val 2540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классов городских звуков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77240" y="38862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862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air_conditioner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40280" y="38862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40280" y="38862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car_horn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03320" y="38862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03320" y="38862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children_playing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66360" y="38862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66360" y="38862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dog_bark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9400" y="388620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38862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drilling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52628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5262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engine_idling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240280" y="452628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40280" y="45262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gun_shot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703320" y="452628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45262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jackhammer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66360" y="452628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66360" y="45262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siren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629400" y="4526280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5B8FB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29400" y="45262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street_music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7240" y="5486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minority: gun_shot (374), car_horn (429) — остальные ~800-1000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12480" y="3246120"/>
            <a:ext cx="3200400" cy="2880360"/>
          </a:xfrm>
          <a:prstGeom prst="roundRect">
            <a:avLst>
              <a:gd name="adj" fmla="val 2540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33832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595360" y="3794760"/>
            <a:ext cx="28346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Zenodo (оригинал):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8F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zenodo.org/records/1203745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mirror: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8F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danavery/urbansound8K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recordings: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Freesound.org — записи в реальной городской среде, разный sample rate, разное качество.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EDA: структура датасета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 классов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920240"/>
          <a:ext cx="5852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675120" y="15544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важно из EDA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583680" y="192024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0" y="2057400"/>
            <a:ext cx="4846320" cy="3977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из 10 классов имеют ~1 000 файлов. Minority —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gun_shot (374)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car_horn (429)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Folds: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предзаданных. Стратификация не идеальна — gun_shot отсутствует в 2 folds.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Длительность: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большинство сегментов 3.5–4 с, ~10% короче 2 с → pad нулями справа, длинные — center-crop.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rate: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разный (8 / 16 / 22.05 / 44.1 / 48 kHz) — обязателен resample.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(датасет почти сбалансирован) + macro-F1 (страховка от minority).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Препроцессинг: от wav к лог-мел спектрограмме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93776" y="1920240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3776" y="20116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Load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85216" y="24231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torchaudio,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= mean(ch)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 rot="5400000">
            <a:off x="2615184" y="2542032"/>
            <a:ext cx="109728" cy="128016"/>
          </a:xfrm>
          <a:prstGeom prst="rtTriangl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61488" y="1920240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1488" y="20116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52928" y="24231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22 050 Hz (own CNN)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32 000 Hz (PANN)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rot="5400000">
            <a:off x="4882896" y="2542032"/>
            <a:ext cx="109728" cy="128016"/>
          </a:xfrm>
          <a:prstGeom prst="rtTriangl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0" y="1920240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0116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Pad / Crop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24231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с фикс. длина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→ 0 справа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→ центр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5400000">
            <a:off x="7150608" y="2542032"/>
            <a:ext cx="109728" cy="128016"/>
          </a:xfrm>
          <a:prstGeom prst="rtTriangl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96912" y="1920240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96912" y="20116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Mel-Spec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88352" y="24231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n_fft = 1024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 = 512 (own)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n_mels = 64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rot="5400000">
            <a:off x="9418320" y="2542032"/>
            <a:ext cx="109728" cy="128016"/>
          </a:xfrm>
          <a:prstGeom prst="rtTriangl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564624" y="1920240"/>
            <a:ext cx="2103120" cy="1371600"/>
          </a:xfrm>
          <a:prstGeom prst="roundRect">
            <a:avLst>
              <a:gd name="adj" fmla="val 53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64624" y="20116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log + norm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56064" y="24231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log₁₀(mel + ε)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per-sample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CEEE3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7490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Выход:  </a:t>
            </a:r>
            <a:pPr indent="0" marL="0">
              <a:buNone/>
            </a:pPr>
            <a:r>
              <a:rPr lang="en-US" sz="14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тензор (1, 64, 173) — лог-мел-картинка 64 мел-полосы × 173 фрейма за 4 с.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спектрограмм на диск.  </a:t>
            </a:r>
            <a:pPr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первом проходе записываем `.pt` в `cache_mel/`. На последующих эпохах и фолдах — только torch.load → ускорение CPU-обучения 5–10×.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src/data/audio.py · src/data/dataset.py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 1: собственная 2D-CNN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conv-блока + AdaptiveAvgPool + FC — 249 866 параметров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017520" y="16916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× 64 × 173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304288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30428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ConvBlock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2304288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× 32 × 86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916936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91693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ConvBlock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2916936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× 16 × 43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529584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9584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ConvBlock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017520" y="3529584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× 8 × 21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4142232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42232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ConvBlock 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4142232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× 4 × 10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7548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5C8C66"/>
          </a:solidFill>
          <a:ln w="12700">
            <a:solidFill>
              <a:srgbClr val="5C8C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7548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AdaptiveAvgPool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017520" y="47548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5367528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536752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128 → 64 → 10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17520" y="5367528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91640"/>
            <a:ext cx="6126480" cy="2194560"/>
          </a:xfrm>
          <a:prstGeom prst="roundRect">
            <a:avLst>
              <a:gd name="adj" fmla="val 33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178308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внутри ConvBlock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669280" y="2194560"/>
            <a:ext cx="57607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Conv2d(k = 3, p = 1) → </a:t>
            </a:r>
            <a:pPr indent="0" marL="0">
              <a:buNone/>
            </a:pPr>
            <a:r>
              <a:rPr lang="en-US" sz="12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BatchNorm2d</a:t>
            </a:r>
            <a:pPr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ReLU → </a:t>
            </a:r>
            <a:pPr indent="0" marL="0">
              <a:buNone/>
            </a:pPr>
            <a:r>
              <a:rPr lang="en-US" sz="12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MaxPool(2,2)</a:t>
            </a:r>
            <a:pPr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12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Dropout2d</a:t>
            </a:r>
            <a:pPr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(0.10 → 0.25 от блока к блоку)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Kaiming init для conv и линейных, BN-init по умолчанию.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0" y="4023360"/>
            <a:ext cx="6126480" cy="2057400"/>
          </a:xfrm>
          <a:prstGeom prst="roundRect">
            <a:avLst>
              <a:gd name="adj" fmla="val 3556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41148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Обучение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4526280"/>
            <a:ext cx="57607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AdamW, lr = 1e-3, weight_decay = 1e-4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CrossEntropy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CosineAnnealingLR(T_max = epochs)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patience по val_acc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 clip: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max_norm = 1.0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Batch: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32; per-fold 90% train + 10% val (seed = 42)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 2: PANN CNN10 (fine-tune)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на AudioSet (527 классов, 2 млн аудио) — 4 954 058 параметров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ConvBlock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48840" y="1691640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48840" y="1691640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ConvBlock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66160" y="1691640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691640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ConvBlock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91640"/>
            <a:ext cx="1280160" cy="1005840"/>
          </a:xfrm>
          <a:prstGeom prst="roundRect">
            <a:avLst>
              <a:gd name="adj" fmla="val 7273"/>
            </a:avLst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691640"/>
            <a:ext cx="1280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ConvBlock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169164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5C8C66"/>
          </a:solidFill>
          <a:ln w="12700">
            <a:solidFill>
              <a:srgbClr val="5C8C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691640"/>
            <a:ext cx="1463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→ 512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321040" y="16916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6916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classifier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→ 10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0" y="169164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10 logits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2743200"/>
            <a:ext cx="6080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Backbone из AudioSet (MIT, Kong et al., 2020) — заморожен в phase 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Заменили: AudioSet head 512 → 527  ⇒  10-class head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4290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Двухфазное fine-tune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77240" y="3840480"/>
            <a:ext cx="53035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840480"/>
            <a:ext cx="109728" cy="2194560"/>
          </a:xfrm>
          <a:prstGeom prst="rect">
            <a:avLst/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3931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 ·  warmup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43434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заморожен. Учим только новую 10-class head.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= 1e-3 на head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эпох (для mini-прогона — 2)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Сохраняем temp ckpt → отбрасывается после phase 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3840480"/>
            <a:ext cx="530352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63640" y="3840480"/>
            <a:ext cx="109728" cy="2194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3931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 ·  fine-tune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434340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Размораживаем backbone — учим всё.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lr_backbone = 1e-4  (discriminative)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lr_head = 1e-3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epoch_offset → CSV эпохи нумеруются 6, 7, 8 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Аугментация (только train)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SpecAugment (Park et al., 2019) + Gaussian noise — применяется после кеша спектрограммы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4434840"/>
          </a:xfrm>
          <a:prstGeom prst="roundRect">
            <a:avLst>
              <a:gd name="adj" fmla="val 1649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SpecAugment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2331720"/>
            <a:ext cx="5029200" cy="1188720"/>
          </a:xfrm>
          <a:prstGeom prst="rect">
            <a:avLst/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560320"/>
            <a:ext cx="5029200" cy="164592"/>
          </a:xfrm>
          <a:prstGeom prst="rect">
            <a:avLst/>
          </a:prstGeom>
          <a:solidFill>
            <a:srgbClr val="D97757">
              <a:alpha val="70000"/>
            </a:srgbClr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17520"/>
            <a:ext cx="5029200" cy="109728"/>
          </a:xfrm>
          <a:prstGeom prst="rect">
            <a:avLst/>
          </a:prstGeom>
          <a:solidFill>
            <a:srgbClr val="D97757">
              <a:alpha val="70000"/>
            </a:srgbClr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1720" y="2331720"/>
            <a:ext cx="411480" cy="1188720"/>
          </a:xfrm>
          <a:prstGeom prst="rect">
            <a:avLst/>
          </a:prstGeom>
          <a:solidFill>
            <a:srgbClr val="5B8FB9">
              <a:alpha val="70000"/>
            </a:srgbClr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2331720"/>
            <a:ext cx="274320" cy="1188720"/>
          </a:xfrm>
          <a:prstGeom prst="rect">
            <a:avLst/>
          </a:prstGeom>
          <a:solidFill>
            <a:srgbClr val="5B8FB9">
              <a:alpha val="70000"/>
            </a:srgbClr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8346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мел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5661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 фрейма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3931920"/>
            <a:ext cx="182880" cy="182880"/>
          </a:xfrm>
          <a:prstGeom prst="rect">
            <a:avLst/>
          </a:prstGeom>
          <a:solidFill>
            <a:srgbClr val="D97757">
              <a:alpha val="70000"/>
            </a:srgbClr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93192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 mask (2 × max 12 мел-полос)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4206240"/>
            <a:ext cx="182880" cy="182880"/>
          </a:xfrm>
          <a:prstGeom prst="rect">
            <a:avLst/>
          </a:prstGeom>
          <a:solidFill>
            <a:srgbClr val="5B8FB9">
              <a:alpha val="70000"/>
            </a:srgbClr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42062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mask (2 × max 25 фреймов)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Заполнение — среднее значение спектрограммы.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5440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Cрабатывает каждый сэмпл; маски случайны → новый паттерн каждой эпохи.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691640"/>
            <a:ext cx="5394960" cy="2057400"/>
          </a:xfrm>
          <a:prstGeom prst="roundRect">
            <a:avLst>
              <a:gd name="adj" fmla="val 3556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noise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46520" y="228600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Добавляется на лог-мел тензор: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= 0.005, вероятность p = 0.3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Случайный сдвиг распределения признаков → робастность к шумам записи.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33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так делаем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4480560"/>
            <a:ext cx="493776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спектрограмме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не на wav. Это позволяет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переиспользовать кеш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(мелы рассчитаны 1 раз), при этом каждый mini-batch видит новый паттерн.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Pitch-shift / time-stretch — медленнее и не дают выигрыша на этой задаче.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Проблемы при решении задачи и их решения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54480"/>
            <a:ext cx="128016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47088"/>
            <a:ext cx="502920" cy="50292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470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66420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Zenodo блокирует прямую скачку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05740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Симптом: </a:t>
            </a:r>
            <a:pPr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403: «unusual traffic from your network» при попытке `urlopen` UrbanSound8K.tar.gz. Воспроизводится и через urllib, и через curl с браузерным User-Agent.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54480" y="2487168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8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</a:t>
            </a:r>
            <a:pPr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fallback: HuggingFace mirror `danavery/urbansound8K` (та же CC BY-NC лицензия, identical контент в parquet-шардах). Скрипт `src/data/download.py` теперь пробует Zenodo → при ошибке переключается на HF.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063240"/>
            <a:ext cx="128016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3355848"/>
            <a:ext cx="502920" cy="50292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55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54480" y="317296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datasets 4.x требует torchcodec для декода audio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356616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Симптом: </a:t>
            </a:r>
            <a:pPr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load_dataset(...)['audio'] возвращает Audio feature, который при iter-е пытается использовать torchcodec — он не установлен и плохо ставится под Windows + torch 2.8 CPU.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54480" y="3995928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8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</a:t>
            </a:r>
            <a:pPr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`.cast_column('audio', Audio(decode=False))` → получаем raw bytes WAV-файла. Пишем эти bytes напрямую на диск в `audio/foldN/&lt;name&gt;.wav`. Декодирование уже не нужно.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572000"/>
            <a:ext cx="128016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4864608"/>
            <a:ext cx="502920" cy="50292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8646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4681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Длинный CPU-прогон + BSOD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507492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Симптом: </a:t>
            </a:r>
            <a:pPr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10-fold × 50 эпох для own CNN + PANN — около 20 часов на CPU. Posередине прогона система ушла в BSOD (предположительно тепло / драйвер на 14700K).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54480" y="5504688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8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 </a:t>
            </a:r>
            <a:pPr indent="0" marL="0"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Сжал scope: own CNN 5 folds × 12 эпох, PANN 1 fold × 2 эпохи, ablation 1 fold × 12 эпох. Полный 10-fold протокол остался в коде (`run_*.py` принимает `--folds`), запускается без правок при наличии времени или GPU.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Mini-scope: 5/1/1 folds × 12/2/12 эпох на CPU. Полный 10-fold протокол реализован в коде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57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91640"/>
            <a:ext cx="3657600" cy="164592"/>
          </a:xfrm>
          <a:prstGeom prst="rect">
            <a:avLst/>
          </a:prstGeom>
          <a:solidFill>
            <a:srgbClr val="5B8FB9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CNN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5B8F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0.573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4290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 </a:t>
            </a:r>
            <a:pPr indent="0" marL="0"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0.551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 </a:t>
            </a:r>
            <a:pPr indent="0" marL="0"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folds × 12 эп.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51960" y="1691640"/>
            <a:ext cx="3657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51960" y="1691640"/>
            <a:ext cx="3657600" cy="16459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PANN CNN10 ft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34840" y="22860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D977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0.790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4434840" y="3154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34840" y="34290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 </a:t>
            </a:r>
            <a:pPr indent="0" marL="0"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0.806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 </a:t>
            </a:r>
            <a:pPr indent="0" marL="0"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3703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fold × 2 эп.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657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0" y="1691640"/>
            <a:ext cx="3657600" cy="164592"/>
          </a:xfrm>
          <a:prstGeom prst="rect">
            <a:avLst/>
          </a:prstGeom>
          <a:solidFill>
            <a:srgbClr val="5C8C66"/>
          </a:solidFill>
          <a:ln w="12700">
            <a:solidFill>
              <a:srgbClr val="5C8C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(no aug)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0" y="22860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5C8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0.733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8229600" y="31546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34290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 </a:t>
            </a:r>
            <a:pPr indent="0" marL="0"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0.729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 </a:t>
            </a:r>
            <a:pPr indent="0" marL="0"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3703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fold × 12 эп.</a:t>
            </a:r>
            <a:endParaRPr lang="en-US" sz="1000" dirty="0"/>
          </a:p>
        </p:txBody>
      </p:sp>
      <p:pic>
        <p:nvPicPr>
          <p:cNvPr id="25" name="Image 0" descr="C:\Users\desswell\work\pythonProject\ЦОС\final_project\results\figures\per_class_f1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023360"/>
            <a:ext cx="7498080" cy="21945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8229600" y="402336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12480" y="4114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Главные цифры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412480" y="45262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+21%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acc PANN над own CNN при том же препроцессинге</a:t>
            </a:r>
            <a:pPr indent="0" marL="0">
              <a:spcAft>
                <a:spcPts val="300"/>
              </a:spcAft>
              <a:buNone/>
            </a:pP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5C8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7%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у own CNN по 5 folds → высокая дисперсия датасета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Разбор ошибок: confusion matrix Own CNN</a:t>
            </a:r>
            <a:endParaRPr lang="en-US" sz="3000" dirty="0"/>
          </a:p>
        </p:txBody>
      </p:sp>
      <p:pic>
        <p:nvPicPr>
          <p:cNvPr id="3" name="Image 0" descr="C:\Users\desswell\work\pythonProject\ЦОС\final_project\results\figures\confusion_matrix_own_cnn_av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603504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766560" y="1554480"/>
            <a:ext cx="4846320" cy="4572000"/>
          </a:xfrm>
          <a:prstGeom prst="roundRect">
            <a:avLst>
              <a:gd name="adj" fmla="val 1600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949440" y="16916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видно из матрицы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949440" y="2103120"/>
            <a:ext cx="4480560" cy="3977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Сильные классы (диагональ &gt; 0.7):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gun_shot — характерный короткий всплеск энергии.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siren — устойчивые периодические гармоники.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engine_idling — низкочастотный гул.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Слабые классы (диагональ &lt; 0.5):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children_playing ↔ street_music — оба широкополосные, смешанная семантика.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jackhammer ↔ drilling — оба ритмичные перкуссионные удары на близких частотах.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minority классы (gun_shot 374, car_horn 429) — низкий precision из-за дефицита примеров.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и возможные улучшения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получилось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50292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 полный ML-пайплайн: download → preprocess + cache → train (own CNN / PANN / ablation) → aggregate.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 10-fold протокол (запущен в mini-scope: 5/1/1 фолдов из-за CPU-бюджета).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unit-тестов покрывают audio/aug/dataset/models/metrics/trainer/aggregator.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PANN +21% accuracy над собственной CNN — подтверждена ценность pre-training.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+ per-fold логи + 7 PNG графиков + summary.csv/md закоммичены в локальный git.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F0F4F8"/>
          </a:solidFill>
          <a:ln w="6350">
            <a:solidFill>
              <a:srgbClr val="D6DE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103120"/>
            <a:ext cx="493776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10-fold для PANN и ablation на GPU (~1-2 ч вместо 15 ч на CPU).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эпох обучения own CNN — даст время аугментации проявить эффект, ожидаемо 70-80% accuracy.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Mixup / CutMix на спектрограммах — улучшение обобщения.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1D-CNN (M5 / SampleCNN) на raw waveform — end-to-end ЦОС-подход.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 CNN14 или AST как backbone — современная SOTA-планка.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Optuna для гиперпараметров (lr, dropout, mask sizes).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ЦОС — курсовой проект — Ким А.М., ИУ12-41М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4465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55080"/>
            <a:ext cx="12161520" cy="502920"/>
          </a:xfrm>
          <a:prstGeom prst="rect">
            <a:avLst/>
          </a:prstGeom>
          <a:solidFill>
            <a:srgbClr val="F0F4F8"/>
          </a:solidFill>
          <a:ln w="12700">
            <a:solidFill>
              <a:srgbClr val="F0F4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"/>
            <a:ext cx="164592" cy="5852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E5A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7A7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Готов к вопросам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0" y="4297680"/>
            <a:ext cx="301752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 А.М.  ·  ИУ12-41М  ·  МГТУ им. Н.Э. Баумана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 — локальный git-репозиторий (готов к git push)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UrbanSound8K — классификация городских звуков</dc:title>
  <dc:subject>PptxGenJS Presentation</dc:subject>
  <dc:creator>Ким А.М., ИУ12-41М</dc:creator>
  <cp:lastModifiedBy>Ким А.М., ИУ12-41М</cp:lastModifiedBy>
  <cp:revision>1</cp:revision>
  <dcterms:created xsi:type="dcterms:W3CDTF">2026-05-13T07:00:44Z</dcterms:created>
  <dcterms:modified xsi:type="dcterms:W3CDTF">2026-05-13T07:00:44Z</dcterms:modified>
</cp:coreProperties>
</file>